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6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[0:00-0:10] Castor. Cyfrowe serce Małopolskiego Hubu Innowacji Społecznych. Opisz problem, a my dopasujemy rozwiązania.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[0:10-0:30] Seniorzy z małej wsi nie mają jak dojechać do lekarza. Mieszkaniec nie wie, gdzie to zgłosić. Gmina szuka rozwiązań po omacku. ROPS nie widzi, które potrzeby wracają. A w Bibliotece ROPS czeka blisko dwieście sprawdzonych innowacji.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[0:30-0:46] W Castorze wystarczy jedno pole. Piszesz albo mówisz własnymi słowami, bez konta i bez formularzy. Jeśli nie wiesz, jak zacząć, wybierasz jedną z podpowiedzi.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[0:46-1:04] Castor dopyta najwyżej o trzy rzeczy. Imiona, adresy i telefony usuwa sam. Możesz zgłosić sprawę w czyimś imieniu, na przykład sąsiadki, i wskazać swoją gminę. Na koniec dostajesz kod, którym śledzisz zgłoszenie bez zakładania konta.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[1:04-1:24] Po chwili widzisz sprawdzone innowacje z Biblioteki ROPS. Przy każdej: dlaczego pasuje do zgłoszenia, ile trwa wdrożenie i co gmina musi dostosować. A gdy żadna nie wystarcza sama, Castor proponuje połączenie kilku.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[1:24-1:40] Bibliotekę można też przeglądać samemu. Blisko dwieście innowacji, z filmami i kartami w prostym języku. Filtrujesz po obszarze, kategorii, etapie i grupie docelowej.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[1:40-2:00] Gmina nie musi wierzyć na słowo. Castor zestawia wymagania innowacji z danymi Obserwatora Statystyk Społecznych dla tej gminy i mówi, co wziąć bez zmian, co dostosować i czego brakuje. Te same dane widać na mapie, gmina po gminie.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[2:00-2:18] Castor działa tak samo w telefonie. Moduły są pod kciukiem, a zamiast pisać, można mówić. W panelu Dostępność powiększysz tekst, włączysz wysoki kontrast albo ciemny motyw. Projektujemy pod standard WCAG 2.1 na poziomie AA.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[2:18-2:40] A gdy rozwiązania jeszcze nie ma? Pomysł mieszkańca albo organizacji trafia do Kreatora, a w czasie naboru staje się wnioskiem grantowym. Testerzy sprawdzają innowacje w praktyce. A ROPS widzi zgłoszenia na bieżąco, trendy i białe plamy, czyli potrzeby bez odpowiedzi.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[2:40-2:55] Castor. Od problemu do rozwiązania, które już działa. W minuty, nie miesiące. Zajrzyjcie do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2070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812800"/>
            <a:ext cx="10566400" cy="507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2070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812800"/>
            <a:ext cx="10566400" cy="507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ynek Główny w Krakowie o zmierzchu z bazyliką Mariacką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-182880" y="1098550"/>
            <a:ext cx="12557760" cy="205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6000"/>
              </a:lnSpc>
              <a:buNone/>
            </a:pPr>
            <a:r>
              <a:rPr lang="en-US" sz="20000" b="0" i="0" kern="0" spc="-400" dirty="0">
                <a:solidFill>
                  <a:srgbClr val="FCFCF8"/>
                </a:solidFill>
                <a:latin typeface="General Sans Bold" pitchFamily="34" charset="0"/>
                <a:ea typeface="General Sans Bold" pitchFamily="34" charset="-122"/>
                <a:cs typeface="General Sans Bold" pitchFamily="34" charset="-120"/>
              </a:rPr>
              <a:t>CASTOR</a:t>
            </a:r>
            <a:endParaRPr lang="en-US" sz="20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85750"/>
            <a:ext cx="3048000" cy="38163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4543425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000" kern="0" spc="-1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Opisz problem.</a:t>
            </a:r>
            <a:endParaRPr lang="en-US" sz="40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sz="4000" kern="0" spc="-1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Dopasujemy rozwiązania.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12800" y="5788025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E6E9E4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Cyfrowe serce Małopolskiego Hubu Innowacji Społecznych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173F3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0" i="0" kern="0" spc="-150" dirty="0">
                <a:solidFill>
                  <a:srgbClr val="111613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„Seniorzy z naszej wsi nie mają</a:t>
            </a:r>
            <a:endParaRPr lang="en-US" sz="5600" dirty="0"/>
          </a:p>
          <a:p>
            <a:pPr marL="0" indent="0" algn="l">
              <a:lnSpc>
                <a:spcPts val="5880"/>
              </a:lnSpc>
              <a:buNone/>
            </a:pPr>
            <a:r>
              <a:rPr lang="en-US" sz="5600" b="0" i="0" kern="0" spc="-150" dirty="0">
                <a:solidFill>
                  <a:srgbClr val="111613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jak dojechać do lekarza.”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976761"/>
            <a:ext cx="108833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524D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Gdzie to zgłosić? Czy ktoś już to rozwiązał?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4939109"/>
            <a:ext cx="3318917" cy="0"/>
          </a:xfrm>
          <a:prstGeom prst="line">
            <a:avLst/>
          </a:prstGeom>
          <a:noFill/>
          <a:ln w="12700">
            <a:solidFill>
              <a:srgbClr val="173F3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812800" y="5123259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26A65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400080"/>
            <a:ext cx="3418484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dirty="0">
                <a:solidFill>
                  <a:srgbClr val="111613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Mieszkaniec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5770910"/>
            <a:ext cx="34184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4A524D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Nie wie, gdzie zgłosić sprawę.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6517" y="4939109"/>
            <a:ext cx="3318917" cy="0"/>
          </a:xfrm>
          <a:prstGeom prst="line">
            <a:avLst/>
          </a:prstGeom>
          <a:noFill/>
          <a:ln w="12700">
            <a:solidFill>
              <a:srgbClr val="173F3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436517" y="5123259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26A65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6517" y="5400080"/>
            <a:ext cx="3418484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dirty="0">
                <a:solidFill>
                  <a:srgbClr val="111613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Gmina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36517" y="5770910"/>
            <a:ext cx="34184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4A524D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Szuka rozwiązań po omacku.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0234" y="4939109"/>
            <a:ext cx="3318966" cy="0"/>
          </a:xfrm>
          <a:prstGeom prst="line">
            <a:avLst/>
          </a:prstGeom>
          <a:noFill/>
          <a:ln w="12700">
            <a:solidFill>
              <a:srgbClr val="173F3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8060234" y="5123259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26A65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0234" y="5400080"/>
            <a:ext cx="3418535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dirty="0">
                <a:solidFill>
                  <a:srgbClr val="111613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ROPS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60234" y="5770910"/>
            <a:ext cx="341853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4A524D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Nie widzi, które potrzeby wracają.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rona główna Castora na monitorze: pole Opisz problem i podpowiedzi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OPISZ PROBLEM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Jedno pole na start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Piszesz albo mówisz własnymi słowami.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Bez konta i bez formularza, z podpowiedziami na start.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mularz zgłoszenia na tablecie: opis, gmina, kroki Opis, Pytania, Rozwiązani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OPISZ PROBLEM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Zgłoszenie w trzech krokach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Opis, do trzech pytań i gotowe propozycje.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Dane osobowe usuwamy sami, status śledzisz kodem.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arta dopasowania: Mobilne centrum pomocy dla osób starszych, 70% zbieżności z potrzebą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ROZWIĄZANIA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Dopasowanie z uzasadnieniem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Sprawdzone innowacje z Biblioteki ROPS.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Dlaczego pasują, co zmienić w gminie, ile to potrwa.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blioteka innowacji na trzech telefonach: wyszukiwarka, lista wyników, karta innowacji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WIEDZA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Biblioteka innowacji ROPS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Blisko 200 sprawdzonych innowacji z filmami i kartami.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Filtry: obszar, kategoria, etap, grupa docelowa.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pa gmin Małopolski z wskaźnikiem wydatków na kulturę i tabelą gmin na tableci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WIEDZA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Mapa gmin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Wskaźniki Obserwatora ROPS dla każdej gminy.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Na nich Castor ocenia, co zadziała u Ciebie.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stor w telefonie trzymanym w dłoni: menu modułów pod kciukiem i pole Opisz swój proble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Zbliżenie: menu modułów i pole z mikrofonem"/>
          <p:cNvPicPr>
            <a:picLocks noChangeAspect="1"/>
          </p:cNvPicPr>
          <p:nvPr/>
        </p:nvPicPr>
        <p:blipFill>
          <a:blip r:embed="rId4"/>
          <a:srcRect l="43" r="43"/>
          <a:stretch/>
        </p:blipFill>
        <p:spPr>
          <a:xfrm>
            <a:off x="812800" y="254000"/>
            <a:ext cx="2876550" cy="2514600"/>
          </a:xfrm>
          <a:prstGeom prst="roundRect">
            <a:avLst>
              <a:gd name="adj" fmla="val 4040"/>
            </a:avLst>
          </a:prstGeom>
          <a:effectLst>
            <a:outerShdw blurRad="254000" dist="76200" dir="5400000" algn="bl" rotWithShape="0">
              <a:srgbClr val="111613">
                <a:alpha val="18000"/>
              </a:srgbClr>
            </a:outerShdw>
          </a:effectLst>
        </p:spPr>
      </p:pic>
      <p:pic>
        <p:nvPicPr>
          <p:cNvPr id="4" name="Image 2" descr="Zbliżenie: ekran startowy z napisem CASTOR"/>
          <p:cNvPicPr>
            <a:picLocks noChangeAspect="1"/>
          </p:cNvPicPr>
          <p:nvPr/>
        </p:nvPicPr>
        <p:blipFill>
          <a:blip r:embed="rId5"/>
          <a:srcRect t="8" b="8"/>
          <a:stretch/>
        </p:blipFill>
        <p:spPr>
          <a:xfrm>
            <a:off x="812800" y="2921000"/>
            <a:ext cx="2603500" cy="2514600"/>
          </a:xfrm>
          <a:prstGeom prst="roundRect">
            <a:avLst>
              <a:gd name="adj" fmla="val 4040"/>
            </a:avLst>
          </a:prstGeom>
          <a:effectLst>
            <a:outerShdw blurRad="254000" dist="76200" dir="5400000" algn="bl" rotWithShape="0">
              <a:srgbClr val="111613">
                <a:alpha val="18000"/>
              </a:srgbClr>
            </a:outerShdw>
          </a:effectLst>
        </p:spPr>
      </p:pic>
      <p:sp>
        <p:nvSpPr>
          <p:cNvPr id="5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DOSTĘPNOŚĆ</a:t>
            </a:r>
            <a:endParaRPr lang="en-US" sz="1200" dirty="0"/>
          </a:p>
        </p:txBody>
      </p:sp>
      <p:sp>
        <p:nvSpPr>
          <p:cNvPr id="7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Obsługa kciukiem i głosem</a:t>
            </a:r>
            <a:endParaRPr lang="en-US" sz="2800" dirty="0"/>
          </a:p>
        </p:txBody>
      </p:sp>
      <p:sp>
        <p:nvSpPr>
          <p:cNvPr id="8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Moduły pod kciukiem, głos zamiast pisania.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Większy tekst i kontrast. Projekt pod WCAG 2.1 AA.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Zbliżenie tabletu: nawigacja Opisz problem, Rozwiązania, Wiedza, Pomysły, Test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173F3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812800" y="5967760"/>
            <a:ext cx="53632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C8D8C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POMYSŁY I TESTY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6188720"/>
            <a:ext cx="5363210" cy="41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0" i="0" kern="0" spc="-5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Pięć modułów, jeden obieg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26200" y="600710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Pomysł trafia do naboru, a innowacja do testerów.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5D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ROPS widzi zgłoszenia na bieżąco, trendy i białe plamy.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16">
                  <a:alpha val="55000"/>
                </a:srgbClr>
              </a:gs>
              <a:gs pos="100000">
                <a:srgbClr val="0A0E16">
                  <a:alpha val="88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2431971" y="1901527"/>
            <a:ext cx="7328059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12000" b="0" i="0" kern="0" spc="-500" dirty="0">
                <a:solidFill>
                  <a:srgbClr val="FCFCF8"/>
                </a:solidFill>
                <a:latin typeface="General Sans Bold" pitchFamily="34" charset="0"/>
                <a:ea typeface="General Sans Bold" pitchFamily="34" charset="-122"/>
                <a:cs typeface="General Sans Bold" pitchFamily="34" charset="-120"/>
              </a:rPr>
              <a:t>CASTOR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901487" y="3450927"/>
            <a:ext cx="1038897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20"/>
              </a:lnSpc>
              <a:buNone/>
            </a:pPr>
            <a:r>
              <a:rPr lang="en-US" sz="2800" dirty="0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Od problemu do rozwiązania. W minuty, nie miesiące.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340422" y="4037657"/>
            <a:ext cx="551110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500" dirty="0">
                <a:solidFill>
                  <a:srgbClr val="C9CDD3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Małopolski Hub Innowacji Społecznych · ROPS Kraków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76788" y="4472632"/>
            <a:ext cx="1838424" cy="483840"/>
          </a:xfrm>
          <a:prstGeom prst="roundRect">
            <a:avLst>
              <a:gd name="adj" fmla="val 18374"/>
            </a:avLst>
          </a:prstGeom>
          <a:solidFill>
            <a:srgbClr val="2F6B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10"/>
              </a:lnSpc>
              <a:buNone/>
            </a:pPr>
            <a:r>
              <a:rPr lang="pl-PL" sz="1700" dirty="0" err="1">
                <a:solidFill>
                  <a:srgbClr val="FCFCF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Castor.redmed.dev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tor">
  <a:themeElements>
    <a:clrScheme name="Castor">
      <a:dk1>
        <a:srgbClr val="173F38"/>
      </a:dk1>
      <a:lt1>
        <a:srgbClr val="FAF9F5"/>
      </a:lt1>
      <a:dk2>
        <a:srgbClr val="2E524B"/>
      </a:dk2>
      <a:lt2>
        <a:srgbClr val="C1CBC6"/>
      </a:lt2>
      <a:accent1>
        <a:srgbClr val="2F6B42"/>
      </a:accent1>
      <a:accent2>
        <a:srgbClr val="C8D8CF"/>
      </a:accent2>
      <a:accent3>
        <a:srgbClr val="DCE5DF"/>
      </a:accent3>
      <a:accent4>
        <a:srgbClr val="4A524D"/>
      </a:accent4>
      <a:accent5>
        <a:srgbClr val="626A65"/>
      </a:accent5>
      <a:accent6>
        <a:srgbClr val="C9CDD3"/>
      </a:accent6>
      <a:hlink>
        <a:srgbClr val="0563C1"/>
      </a:hlink>
      <a:folHlink>
        <a:srgbClr val="954F72"/>
      </a:folHlink>
    </a:clrScheme>
    <a:fontScheme name="Castor">
      <a:majorFont>
        <a:latin typeface="General Sans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neral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Panoramiczny</PresentationFormat>
  <Paragraphs>69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Arial</vt:lpstr>
      <vt:lpstr>General Sans</vt:lpstr>
      <vt:lpstr>General Sans Bold</vt:lpstr>
      <vt:lpstr>General Sans Medium</vt:lpstr>
      <vt:lpstr>Castor</vt:lpstr>
      <vt:lpstr>CASTOR</vt:lpstr>
      <vt:lpstr>„Seniorzy z naszej wsi nie mają jak dojechać do lekarza.”</vt:lpstr>
      <vt:lpstr>Jedno pole na start</vt:lpstr>
      <vt:lpstr>Zgłoszenie w trzech krokach</vt:lpstr>
      <vt:lpstr>Dopasowanie z uzasadnieniem</vt:lpstr>
      <vt:lpstr>Biblioteka innowacji ROPS</vt:lpstr>
      <vt:lpstr>Mapa gmin</vt:lpstr>
      <vt:lpstr>Obsługa kciukiem i głosem</vt:lpstr>
      <vt:lpstr>Pięć modułów, jeden obieg</vt:lpstr>
      <vt:lpstr>CASTOR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Castor</dc:title>
  <dc:subject/>
  <dc:creator/>
  <cp:lastModifiedBy>Mariusz Wroński</cp:lastModifiedBy>
  <cp:revision>2</cp:revision>
  <dcterms:created xsi:type="dcterms:W3CDTF">2026-10-04T08:49:20Z</dcterms:created>
  <dcterms:modified xsi:type="dcterms:W3CDTF">2026-10-04T08:51:11Z</dcterms:modified>
</cp:coreProperties>
</file>