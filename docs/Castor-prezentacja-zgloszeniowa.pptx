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5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TOR_LIGHT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6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CASTOR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heapsik/hackathon-2026/tree/main/docs/visuals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Cheapsik/hackathon-2026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castor.redmed.dev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az 11">
            <a:extLst>
              <a:ext uri="{FF2B5EF4-FFF2-40B4-BE49-F238E27FC236}">
                <a16:creationId xmlns:a16="http://schemas.microsoft.com/office/drawing/2014/main" id="{1BDBA4CF-EA74-BFE5-2954-739099B09D5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23950"/>
            <a:ext cx="12192000" cy="91059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16">
              <a:alpha val="54000"/>
            </a:srgbClr>
          </a:solidFill>
          <a:ln w="12700">
            <a:solidFill>
              <a:srgbClr val="071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1"/>
          <p:cNvSpPr/>
          <p:nvPr/>
        </p:nvSpPr>
        <p:spPr>
          <a:xfrm>
            <a:off x="0" y="4187952"/>
            <a:ext cx="12191695" cy="2670048"/>
          </a:xfrm>
          <a:prstGeom prst="rect">
            <a:avLst/>
          </a:prstGeom>
          <a:solidFill>
            <a:srgbClr val="071B16">
              <a:alpha val="82000"/>
            </a:srgbClr>
          </a:solidFill>
          <a:ln w="12700">
            <a:solidFill>
              <a:srgbClr val="071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658368" y="493776"/>
            <a:ext cx="3291840" cy="310896"/>
          </a:xfrm>
          <a:prstGeom prst="roundRect">
            <a:avLst>
              <a:gd name="adj" fmla="val 47059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731520" y="521208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MAŁOPOLSKI HUB INNOWACJI SPOŁECZNYCH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" y="440740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Castor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76656" y="51480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problemu do rozwiązania społecznego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94944" y="57332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9E8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 platforma dla mieszkańców, gmin, organizacji i ROPS Kraków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" y="62819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FD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Prezentacja rozwiązania · 4 października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Dobre rozwiązania istnieją. Trudno je połączyć z realną potrzebą.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Dziś mieszkaniec, gmina i ROPS widzą różne fragmenty tego samego problemu.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56232"/>
            <a:ext cx="6080760" cy="1033272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86384" y="20299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956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Rozproszone wejście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304288"/>
            <a:ext cx="4919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wiadomo, gdzie zgłosić problem społeczny i kto poprowadzi sprawę dalej.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6080760" cy="1033272"/>
          </a:xfrm>
          <a:prstGeom prst="roundRect">
            <a:avLst>
              <a:gd name="adj" fmla="val 14159"/>
            </a:avLst>
          </a:prstGeom>
          <a:solidFill>
            <a:srgbClr val="E7F0EA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786384" y="332841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32552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Niewykorzystana wiedza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89888" y="3602736"/>
            <a:ext cx="4919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Blisko 200 innowacji ROPS trudno przeszukać językiem codziennego problemu.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94360" y="4453128"/>
            <a:ext cx="6080760" cy="1033272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786384" y="46268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45537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pętli informacji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89888" y="4901184"/>
            <a:ext cx="4919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Pomysły, testy, dane gmin i sygnały mieszkańców nie spotykają się w jednym procesie.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022592" y="1764792"/>
            <a:ext cx="4526280" cy="4279392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Shape 16"/>
          <p:cNvSpPr/>
          <p:nvPr/>
        </p:nvSpPr>
        <p:spPr>
          <a:xfrm>
            <a:off x="7635240" y="5614416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7"/>
          <p:cNvSpPr/>
          <p:nvPr/>
        </p:nvSpPr>
        <p:spPr>
          <a:xfrm>
            <a:off x="7708392" y="5641848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 POTRZEBA · WIELE INSTYTUCJI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1" name="Obraz 20">
            <a:extLst>
              <a:ext uri="{FF2B5EF4-FFF2-40B4-BE49-F238E27FC236}">
                <a16:creationId xmlns:a16="http://schemas.microsoft.com/office/drawing/2014/main" id="{5A9401BF-AF44-6C27-EFC8-DC1463A9ECB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730490" y="1902460"/>
            <a:ext cx="3071622" cy="3583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91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ROZWIĄZANIE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76072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Cyfrowe serce całego cyklu innowacji społecznej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71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6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Castor zamienia pojedynczy sygnał w wiedzę, decyzję i wdrożenie.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34440" y="2011680"/>
            <a:ext cx="713232" cy="713232"/>
          </a:xfrm>
          <a:prstGeom prst="ellipse">
            <a:avLst/>
          </a:prstGeom>
          <a:solidFill>
            <a:srgbClr val="A8D36D"/>
          </a:solidFill>
          <a:ln w="12700">
            <a:solidFill>
              <a:srgbClr val="A8D36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234440" y="2084832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84248" y="2368296"/>
            <a:ext cx="1527048" cy="0"/>
          </a:xfrm>
          <a:prstGeom prst="line">
            <a:avLst/>
          </a:prstGeom>
          <a:noFill/>
          <a:ln w="25400">
            <a:solidFill>
              <a:srgbClr val="78A49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94360" y="29077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Opisz problem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335584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Tekstem lub głosem, bez konta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11296" y="2011680"/>
            <a:ext cx="713232" cy="713232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511296" y="2084832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261104" y="2368296"/>
            <a:ext cx="1527048" cy="0"/>
          </a:xfrm>
          <a:prstGeom prst="line">
            <a:avLst/>
          </a:prstGeom>
          <a:noFill/>
          <a:ln w="25400">
            <a:solidFill>
              <a:srgbClr val="78A49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2871216" y="29077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Znajdź to, co działa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98648" y="335584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Dopasowanie do Biblioteki ROPS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88152" y="2011680"/>
            <a:ext cx="713232" cy="713232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5788152" y="2084832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37960" y="2368296"/>
            <a:ext cx="1527048" cy="0"/>
          </a:xfrm>
          <a:prstGeom prst="line">
            <a:avLst/>
          </a:prstGeom>
          <a:noFill/>
          <a:ln w="25400">
            <a:solidFill>
              <a:srgbClr val="78A49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148072" y="29077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Sprawdź gminę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75504" y="335584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Wymagania kontra dane lokalne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5008" y="2011680"/>
            <a:ext cx="713232" cy="713232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8065008" y="2084832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814816" y="2368296"/>
            <a:ext cx="1527048" cy="0"/>
          </a:xfrm>
          <a:prstGeom prst="line">
            <a:avLst/>
          </a:prstGeom>
          <a:noFill/>
          <a:ln w="25400">
            <a:solidFill>
              <a:srgbClr val="78A49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7424928" y="29077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Rozwiń nowy pomysł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52360" y="335584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Kreator, nabór, eksperci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41864" y="2011680"/>
            <a:ext cx="713232" cy="713232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0341864" y="2084832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01784" y="29077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Przetestuj i skaluj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729216" y="335584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Testerzy, feedback, partnerstwa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7552" y="4645152"/>
            <a:ext cx="10168128" cy="1051560"/>
          </a:xfrm>
          <a:prstGeom prst="roundRect">
            <a:avLst>
              <a:gd name="adj" fmla="val 15652"/>
            </a:avLst>
          </a:prstGeom>
          <a:solidFill>
            <a:srgbClr val="214A3E"/>
          </a:solidFill>
          <a:ln w="12700">
            <a:solidFill>
              <a:srgbClr val="3F725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1280160" y="48463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ROPS widzi cały region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67328" y="4791456"/>
            <a:ext cx="6995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Radar potrzeb pokazuje trendy i białe plamy — problemy, dla których nie ma jeszcze dobrego rozwiązania.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22192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D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Każdy kolejny sygnał poprawia decyzje regionu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ŚCIEŻKA UŻYTKOWNIKA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Anna opisuje problem. Castor prowadzi ją do konkretnej odpowiedzi.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formularza, maksimum kontekstu i jasne wyjaśnienie dopasowania.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475488" cy="475488"/>
          </a:xfrm>
          <a:prstGeom prst="ellipse">
            <a:avLst/>
          </a:prstGeom>
          <a:solidFill>
            <a:srgbClr val="1B6B4A"/>
          </a:solidFill>
          <a:ln w="1524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2350008"/>
            <a:ext cx="0" cy="411480"/>
          </a:xfrm>
          <a:prstGeom prst="line">
            <a:avLst/>
          </a:prstGeom>
          <a:noFill/>
          <a:ln w="1905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316736" y="18379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Powiedz, co nie działa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16736" y="21488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 lub mikrofon, bez zakładania konta.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58368" y="2761488"/>
            <a:ext cx="475488" cy="475488"/>
          </a:xfrm>
          <a:prstGeom prst="ellipse">
            <a:avLst/>
          </a:prstGeom>
          <a:solidFill>
            <a:srgbClr val="E7F0EA"/>
          </a:solidFill>
          <a:ln w="1524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58368" y="28163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3264408"/>
            <a:ext cx="0" cy="411480"/>
          </a:xfrm>
          <a:prstGeom prst="line">
            <a:avLst/>
          </a:prstGeom>
          <a:noFill/>
          <a:ln w="1905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316736" y="27523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Odpowiedz na 2–3 pytania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16736" y="30632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dopytuje tylko o informacje potrzebne do dopasowania.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475488" cy="475488"/>
          </a:xfrm>
          <a:prstGeom prst="ellipse">
            <a:avLst/>
          </a:prstGeom>
          <a:solidFill>
            <a:srgbClr val="E7F0EA"/>
          </a:solidFill>
          <a:ln w="1524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58368" y="37307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" y="4178808"/>
            <a:ext cx="0" cy="411480"/>
          </a:xfrm>
          <a:prstGeom prst="line">
            <a:avLst/>
          </a:prstGeom>
          <a:noFill/>
          <a:ln w="1905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1316736" y="36667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Zobacz sprawdzone rozwiązania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39776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kart z uzasadnieniem „dlaczego pasuje” i potrzebnymi zmianami.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58368" y="4590288"/>
            <a:ext cx="475488" cy="475488"/>
          </a:xfrm>
          <a:prstGeom prst="ellipse">
            <a:avLst/>
          </a:prstGeom>
          <a:solidFill>
            <a:srgbClr val="E7F0EA"/>
          </a:solidFill>
          <a:ln w="1524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658368" y="46451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16736" y="45811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Śledź sprawę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16736" y="48920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 śledzenia działa jak numer przesyłki — pokazuje status i rozmowę.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0" y="1737360"/>
            <a:ext cx="5806440" cy="4544568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7" name="Shape 23"/>
          <p:cNvSpPr/>
          <p:nvPr/>
        </p:nvSpPr>
        <p:spPr>
          <a:xfrm>
            <a:off x="6007608" y="5852160"/>
            <a:ext cx="1353312" cy="310896"/>
          </a:xfrm>
          <a:prstGeom prst="roundRect">
            <a:avLst>
              <a:gd name="adj" fmla="val 47059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4"/>
          <p:cNvSpPr/>
          <p:nvPr/>
        </p:nvSpPr>
        <p:spPr>
          <a:xfrm>
            <a:off x="6080760" y="5879592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FIRST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507224" y="5852160"/>
            <a:ext cx="1426464" cy="310896"/>
          </a:xfrm>
          <a:prstGeom prst="roundRect">
            <a:avLst>
              <a:gd name="adj" fmla="val 47059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6"/>
          <p:cNvSpPr/>
          <p:nvPr/>
        </p:nvSpPr>
        <p:spPr>
          <a:xfrm>
            <a:off x="7580376" y="58795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GŁOS + TEKST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9089136" y="5852160"/>
            <a:ext cx="1243584" cy="310896"/>
          </a:xfrm>
          <a:prstGeom prst="roundRect">
            <a:avLst>
              <a:gd name="adj" fmla="val 47059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28"/>
          <p:cNvSpPr/>
          <p:nvPr/>
        </p:nvSpPr>
        <p:spPr>
          <a:xfrm>
            <a:off x="9162288" y="58795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KONTA</a:t>
            </a:r>
            <a:endParaRPr lang="en-US" sz="9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Obraz 25">
            <a:extLst>
              <a:ext uri="{FF2B5EF4-FFF2-40B4-BE49-F238E27FC236}">
                <a16:creationId xmlns:a16="http://schemas.microsoft.com/office/drawing/2014/main" id="{1236845F-94F4-E064-3C2C-5ECBE5C6E7F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917700"/>
            <a:ext cx="3048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WARTOŚĆ PUBLICZNA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 sama potrzeba — dwie decyzje oparte na danych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Gmina sprawdza wykonalność. ROPS widzi skalę i luki w całym województwie.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1024128" cy="310896"/>
          </a:xfrm>
          <a:prstGeom prst="roundRect">
            <a:avLst>
              <a:gd name="adj" fmla="val 47059"/>
            </a:avLst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41832" y="2039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GMINA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441448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Czy ta innowacja zadziała u nas?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990088"/>
            <a:ext cx="4736592" cy="438912"/>
          </a:xfrm>
          <a:prstGeom prst="rect">
            <a:avLst/>
          </a:prstGeom>
          <a:solidFill>
            <a:srgbClr val="12352B"/>
          </a:solidFill>
          <a:ln w="762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Wymaganie innowacji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493008" y="303580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 gminy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68680" y="3493008"/>
            <a:ext cx="4736592" cy="438912"/>
          </a:xfrm>
          <a:prstGeom prst="rect">
            <a:avLst/>
          </a:prstGeom>
          <a:solidFill>
            <a:srgbClr val="EEF3EF"/>
          </a:solidFill>
          <a:ln w="762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005840" y="353872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Dostępność transportu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493008" y="353872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poniżej średniej regionu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68680" y="3995928"/>
            <a:ext cx="4736592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005840" y="404164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Liczba seniorów 75+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493008" y="404164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wysoka potrzeba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68680" y="4498848"/>
            <a:ext cx="4736592" cy="438912"/>
          </a:xfrm>
          <a:prstGeom prst="rect">
            <a:avLst/>
          </a:prstGeom>
          <a:solidFill>
            <a:srgbClr val="EEF3EF"/>
          </a:solidFill>
          <a:ln w="762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005840" y="454456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Lokalny operator usługi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493008" y="454456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wskazania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68680" y="5285232"/>
            <a:ext cx="2029968" cy="310896"/>
          </a:xfrm>
          <a:prstGeom prst="roundRect">
            <a:avLst>
              <a:gd name="adj" fmla="val 47059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941832" y="531266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DOPASOWANIE: WYSOKIE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565099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„Co dostosować?” i „kto może prowadzić usługę?” — do dopytania asystenta.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6236208" y="1783080"/>
            <a:ext cx="5330952" cy="4343400"/>
          </a:xfrm>
          <a:prstGeom prst="roundRect">
            <a:avLst>
              <a:gd name="adj" fmla="val 3368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6510528" y="2011680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A8D36D"/>
          </a:solidFill>
          <a:ln w="12700">
            <a:solidFill>
              <a:srgbClr val="A8D36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6583680" y="203911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ROPS KRAKÓW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10528" y="2441448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Gdzie problemów przybywa?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10528" y="30632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E7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Samotność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101584" y="3099816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355B4F"/>
          </a:solidFill>
          <a:ln w="12700">
            <a:solidFill>
              <a:srgbClr val="355B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8101584" y="3099816"/>
            <a:ext cx="2150669" cy="164592"/>
          </a:xfrm>
          <a:prstGeom prst="roundRect">
            <a:avLst>
              <a:gd name="adj" fmla="val 50000"/>
            </a:avLst>
          </a:prstGeom>
          <a:solidFill>
            <a:srgbClr val="A8D36D"/>
          </a:solidFill>
          <a:ln w="12700">
            <a:solidFill>
              <a:srgbClr val="A8D36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6510528" y="363016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E7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101584" y="3666744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355B4F"/>
          </a:solidFill>
          <a:ln w="12700">
            <a:solidFill>
              <a:srgbClr val="355B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8101584" y="3666744"/>
            <a:ext cx="1715414" cy="164592"/>
          </a:xfrm>
          <a:prstGeom prst="roundRect">
            <a:avLst>
              <a:gd name="adj" fmla="val 50000"/>
            </a:avLst>
          </a:prstGeom>
          <a:solidFill>
            <a:srgbClr val="6CAE8A"/>
          </a:solidFill>
          <a:ln w="12700">
            <a:solidFill>
              <a:srgbClr val="6CAE8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6510528" y="419709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E7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Zdrowie psychiczne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101584" y="4233672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355B4F"/>
          </a:solidFill>
          <a:ln w="12700">
            <a:solidFill>
              <a:srgbClr val="355B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8101584" y="4233672"/>
            <a:ext cx="1356970" cy="164592"/>
          </a:xfrm>
          <a:prstGeom prst="roundRect">
            <a:avLst>
              <a:gd name="adj" fmla="val 50000"/>
            </a:avLst>
          </a:prstGeom>
          <a:solidFill>
            <a:srgbClr val="5794A8"/>
          </a:solidFill>
          <a:ln w="12700">
            <a:solidFill>
              <a:srgbClr val="5794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6510528" y="476402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E7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Dostępność usług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101584" y="4800600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355B4F"/>
          </a:solidFill>
          <a:ln w="12700">
            <a:solidFill>
              <a:srgbClr val="355B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Shape 37"/>
          <p:cNvSpPr/>
          <p:nvPr/>
        </p:nvSpPr>
        <p:spPr>
          <a:xfrm>
            <a:off x="8101584" y="4800600"/>
            <a:ext cx="998525" cy="164592"/>
          </a:xfrm>
          <a:prstGeom prst="roundRect">
            <a:avLst>
              <a:gd name="adj" fmla="val 50000"/>
            </a:avLst>
          </a:prstGeom>
          <a:solidFill>
            <a:srgbClr val="D98B32"/>
          </a:solidFill>
          <a:ln w="12700">
            <a:solidFill>
              <a:srgbClr val="D98B3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Shape 38"/>
          <p:cNvSpPr/>
          <p:nvPr/>
        </p:nvSpPr>
        <p:spPr>
          <a:xfrm>
            <a:off x="6510528" y="5404104"/>
            <a:ext cx="1298448" cy="310896"/>
          </a:xfrm>
          <a:prstGeom prst="roundRect">
            <a:avLst>
              <a:gd name="adj" fmla="val 47059"/>
            </a:avLst>
          </a:prstGeom>
          <a:solidFill>
            <a:srgbClr val="FFF0D9"/>
          </a:solidFill>
          <a:ln w="12700">
            <a:solidFill>
              <a:srgbClr val="FFF0D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6583680" y="5431536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56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BIAŁA PLAMA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64424" y="533095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bez dobrego dopasowania może od razu stać się szkicem nowego naboru.</a:t>
            </a:r>
            <a:endParaRPr lang="en-US" sz="102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5" name="Obraz 44">
            <a:extLst>
              <a:ext uri="{FF2B5EF4-FFF2-40B4-BE49-F238E27FC236}">
                <a16:creationId xmlns:a16="http://schemas.microsoft.com/office/drawing/2014/main" id="{FBCB91A1-156A-F8FE-BC5A-CF3E1F308E5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06600"/>
            <a:ext cx="5080000" cy="3797300"/>
          </a:xfrm>
          <a:prstGeom prst="rect">
            <a:avLst/>
          </a:prstGeom>
        </p:spPr>
      </p:pic>
      <p:pic>
        <p:nvPicPr>
          <p:cNvPr id="46" name="Obraz 45">
            <a:extLst>
              <a:ext uri="{FF2B5EF4-FFF2-40B4-BE49-F238E27FC236}">
                <a16:creationId xmlns:a16="http://schemas.microsoft.com/office/drawing/2014/main" id="{CA2BFBA4-3206-F9F2-91E1-9FE7D081D1A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006600"/>
            <a:ext cx="5080000" cy="3797300"/>
          </a:xfrm>
          <a:prstGeom prst="rect">
            <a:avLst/>
          </a:prstGeom>
        </p:spPr>
      </p:pic>
      <p:sp>
        <p:nvSpPr>
          <p:cNvPr id="44" name="Prostokąt 43">
            <a:extLst>
              <a:ext uri="{FF2B5EF4-FFF2-40B4-BE49-F238E27FC236}">
                <a16:creationId xmlns:a16="http://schemas.microsoft.com/office/drawing/2014/main" id="{4342B356-6CFD-8771-1C56-EF9EC4AA73D0}"/>
              </a:ext>
            </a:extLst>
          </p:cNvPr>
          <p:cNvSpPr/>
          <p:nvPr/>
        </p:nvSpPr>
        <p:spPr>
          <a:xfrm>
            <a:off x="762000" y="5727700"/>
            <a:ext cx="5080000" cy="342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ZAKRES ROZWIĄZANIA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Siedem modułów, jeden spójny proces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Każdy moduł odpowiada na inny etap drogi od potrzeby do wdrożenia.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758952" y="1938528"/>
            <a:ext cx="438912" cy="438912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58952" y="194767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19110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Opisz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7592" y="2276856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Dopasowanie potrzeb do sprawdzonych innowacji.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383280" y="1755648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3547872" y="1938528"/>
            <a:ext cx="438912" cy="438912"/>
          </a:xfrm>
          <a:prstGeom prst="ellipse">
            <a:avLst/>
          </a:prstGeom>
          <a:solidFill>
            <a:srgbClr val="3B728A"/>
          </a:solidFill>
          <a:ln w="12700">
            <a:solidFill>
              <a:srgbClr val="3B728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547872" y="194767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96512" y="19110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96512" y="2276856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Obszary wyzwań, biblioteka i dane gmin.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172200" y="1755648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336792" y="1938528"/>
            <a:ext cx="438912" cy="438912"/>
          </a:xfrm>
          <a:prstGeom prst="ellipse">
            <a:avLst/>
          </a:prstGeom>
          <a:solidFill>
            <a:srgbClr val="D98B32"/>
          </a:solidFill>
          <a:ln w="12700">
            <a:solidFill>
              <a:srgbClr val="D98B3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336792" y="194767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85432" y="19110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Szkółka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5432" y="2276856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Kreator pomysłów i generator wniosków.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961120" y="1755648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9125712" y="1938528"/>
            <a:ext cx="438912" cy="438912"/>
          </a:xfrm>
          <a:prstGeom prst="ellipse">
            <a:avLst/>
          </a:prstGeom>
          <a:solidFill>
            <a:srgbClr val="C95D4B"/>
          </a:solidFill>
          <a:ln w="12700">
            <a:solidFill>
              <a:srgbClr val="C95D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9125712" y="194767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74352" y="19110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Poletko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74352" y="2276856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Testerzy, opinie i usprawnienia.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1527048" y="3438144"/>
            <a:ext cx="292608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1691640" y="3621024"/>
            <a:ext cx="438912" cy="438912"/>
          </a:xfrm>
          <a:prstGeom prst="ellipse">
            <a:avLst/>
          </a:prstGeom>
          <a:solidFill>
            <a:srgbClr val="4C816C"/>
          </a:solidFill>
          <a:ln w="12700">
            <a:solidFill>
              <a:srgbClr val="4C81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1691640" y="3630168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359359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Śledź zgłoszenie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40280" y="3959352"/>
            <a:ext cx="20482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jak przesyłka i bezpośrednie wątki.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4626864" y="3438144"/>
            <a:ext cx="292608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4791456" y="3621024"/>
            <a:ext cx="438912" cy="438912"/>
          </a:xfrm>
          <a:prstGeom prst="ellipse">
            <a:avLst/>
          </a:prstGeom>
          <a:solidFill>
            <a:srgbClr val="476C7B"/>
          </a:solidFill>
          <a:ln w="12700">
            <a:solidFill>
              <a:srgbClr val="476C7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4791456" y="3630168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0096" y="359359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Ogrodnik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0096" y="3959352"/>
            <a:ext cx="20482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Skrzynka ROPS, radar potrzeb i nabory.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726680" y="3438144"/>
            <a:ext cx="292608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7891272" y="3621024"/>
            <a:ext cx="438912" cy="438912"/>
          </a:xfrm>
          <a:prstGeom prst="ellipse">
            <a:avLst/>
          </a:prstGeom>
          <a:solidFill>
            <a:srgbClr val="8E7045"/>
          </a:solidFill>
          <a:ln w="12700">
            <a:solidFill>
              <a:srgbClr val="8E704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7891272" y="3630168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39912" y="359359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Karta gminy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39912" y="3959352"/>
            <a:ext cx="20482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Ocena dopasowania rozwiązania do lokalnych danych.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2130552" y="5239512"/>
            <a:ext cx="7927848" cy="658368"/>
          </a:xfrm>
          <a:prstGeom prst="roundRect">
            <a:avLst>
              <a:gd name="adj" fmla="val 27778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2313432" y="5385816"/>
            <a:ext cx="7562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Wspólna warstwa AI: anonimizacja · klasyfikacja · dopasowanie · uzasadnienie · asystenci</a:t>
            </a:r>
            <a:endParaRPr lang="en-US" sz="122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/ UI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Dostępny produkt publiczny, nie kolejny urzędowy formularz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Prosty język, duże działania i spójne doświadczenie od telefonu po desktop.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685800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4"/>
          <p:cNvSpPr/>
          <p:nvPr/>
        </p:nvSpPr>
        <p:spPr>
          <a:xfrm>
            <a:off x="7790688" y="1929384"/>
            <a:ext cx="310896" cy="310896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5"/>
          <p:cNvSpPr/>
          <p:nvPr/>
        </p:nvSpPr>
        <p:spPr>
          <a:xfrm>
            <a:off x="7790688" y="19202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47888" y="185623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first</a:t>
            </a:r>
            <a:endParaRPr lang="en-US" sz="1320" dirty="0"/>
          </a:p>
        </p:txBody>
      </p:sp>
      <p:sp>
        <p:nvSpPr>
          <p:cNvPr id="11" name="Text 7"/>
          <p:cNvSpPr/>
          <p:nvPr/>
        </p:nvSpPr>
        <p:spPr>
          <a:xfrm>
            <a:off x="8247888" y="21579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od 360 px, kluczowa akcja w pierwszym widoku.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7790688" y="2761488"/>
            <a:ext cx="310896" cy="310896"/>
          </a:xfrm>
          <a:prstGeom prst="ellipse">
            <a:avLst/>
          </a:prstGeom>
          <a:solidFill>
            <a:srgbClr val="E7F0E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9"/>
          <p:cNvSpPr/>
          <p:nvPr/>
        </p:nvSpPr>
        <p:spPr>
          <a:xfrm>
            <a:off x="7790688" y="27523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47888" y="268833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WCAG 2.1 AA</a:t>
            </a:r>
            <a:endParaRPr lang="en-US" sz="1320" dirty="0"/>
          </a:p>
        </p:txBody>
      </p:sp>
      <p:sp>
        <p:nvSpPr>
          <p:cNvPr id="15" name="Text 11"/>
          <p:cNvSpPr/>
          <p:nvPr/>
        </p:nvSpPr>
        <p:spPr>
          <a:xfrm>
            <a:off x="8247888" y="29900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Klawiatura, semantyka, kontrast i komunikaty aria-live.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7790688" y="3593592"/>
            <a:ext cx="310896" cy="310896"/>
          </a:xfrm>
          <a:prstGeom prst="ellipse">
            <a:avLst/>
          </a:prstGeom>
          <a:solidFill>
            <a:srgbClr val="E7F0E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3"/>
          <p:cNvSpPr/>
          <p:nvPr/>
        </p:nvSpPr>
        <p:spPr>
          <a:xfrm>
            <a:off x="7790688" y="35844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247888" y="35204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A+ / A++</a:t>
            </a:r>
            <a:endParaRPr lang="en-US" sz="1320" dirty="0"/>
          </a:p>
        </p:txBody>
      </p:sp>
      <p:sp>
        <p:nvSpPr>
          <p:cNvPr id="19" name="Text 15"/>
          <p:cNvSpPr/>
          <p:nvPr/>
        </p:nvSpPr>
        <p:spPr>
          <a:xfrm>
            <a:off x="8247888" y="38221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Powiększenie tekstu i tryb wysokiego kontrastu.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7790688" y="4425696"/>
            <a:ext cx="310896" cy="310896"/>
          </a:xfrm>
          <a:prstGeom prst="ellipse">
            <a:avLst/>
          </a:prstGeom>
          <a:solidFill>
            <a:srgbClr val="E7F0E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7"/>
          <p:cNvSpPr/>
          <p:nvPr/>
        </p:nvSpPr>
        <p:spPr>
          <a:xfrm>
            <a:off x="7790688" y="44165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247888" y="435254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Głos i tekst</a:t>
            </a:r>
            <a:endParaRPr lang="en-US" sz="1320" dirty="0"/>
          </a:p>
        </p:txBody>
      </p:sp>
      <p:sp>
        <p:nvSpPr>
          <p:cNvPr id="23" name="Text 19"/>
          <p:cNvSpPr/>
          <p:nvPr/>
        </p:nvSpPr>
        <p:spPr>
          <a:xfrm>
            <a:off x="8247888" y="46542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Mikrofon zawsze ma pełną alternatywę tekstową.</a:t>
            </a:r>
            <a:endParaRPr lang="en-US" sz="970" dirty="0"/>
          </a:p>
        </p:txBody>
      </p:sp>
      <p:sp>
        <p:nvSpPr>
          <p:cNvPr id="24" name="Shape 20"/>
          <p:cNvSpPr/>
          <p:nvPr/>
        </p:nvSpPr>
        <p:spPr>
          <a:xfrm>
            <a:off x="7790688" y="5257800"/>
            <a:ext cx="310896" cy="310896"/>
          </a:xfrm>
          <a:prstGeom prst="ellipse">
            <a:avLst/>
          </a:prstGeom>
          <a:solidFill>
            <a:srgbClr val="E7F0E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1"/>
          <p:cNvSpPr/>
          <p:nvPr/>
        </p:nvSpPr>
        <p:spPr>
          <a:xfrm>
            <a:off x="7790688" y="524865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247888" y="51846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Język człowieka</a:t>
            </a:r>
            <a:endParaRPr lang="en-US" sz="1320" dirty="0"/>
          </a:p>
        </p:txBody>
      </p:sp>
      <p:sp>
        <p:nvSpPr>
          <p:cNvPr id="27" name="Text 23"/>
          <p:cNvSpPr/>
          <p:nvPr/>
        </p:nvSpPr>
        <p:spPr>
          <a:xfrm>
            <a:off x="8247888" y="54864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„Znajdź rozwiązania”, nie „wyślij rekord”.</a:t>
            </a:r>
            <a:endParaRPr lang="en-US" sz="97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0" name="Obraz 29">
            <a:extLst>
              <a:ext uri="{FF2B5EF4-FFF2-40B4-BE49-F238E27FC236}">
                <a16:creationId xmlns:a16="http://schemas.microsoft.com/office/drawing/2014/main" id="{0F057B47-754C-0424-342B-06CEF7190C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" y="2567940"/>
            <a:ext cx="3703320" cy="276479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3FDB96C-93CE-478A-4E7F-9DE48D7DF8D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498340" y="2283460"/>
            <a:ext cx="2697480" cy="3369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TECHNOLOGIA I ZAUFANIE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gotowa do demonstracji i dalszego rozwoju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Jawne kontrakty, wymienny dostawca AI i wdrożenie bez zależności od Docker Hub.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" y="1874520"/>
            <a:ext cx="2395728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58952" y="2039112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TypeScript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758952" y="2423160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Responsywny frontend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TanStack Query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072384" y="2468880"/>
            <a:ext cx="347472" cy="0"/>
          </a:xfrm>
          <a:prstGeom prst="line">
            <a:avLst/>
          </a:prstGeom>
          <a:noFill/>
          <a:ln w="20320">
            <a:solidFill>
              <a:srgbClr val="1B6B4A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483864" y="1874520"/>
            <a:ext cx="2395728" cy="1207008"/>
          </a:xfrm>
          <a:prstGeom prst="roundRect">
            <a:avLst>
              <a:gd name="adj" fmla="val 12121"/>
            </a:avLst>
          </a:prstGeom>
          <a:solidFill>
            <a:srgbClr val="E7F0EA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611880" y="2039112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10 API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3611880" y="2423160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Reguły domenowe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+ SignalR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925312" y="2468880"/>
            <a:ext cx="347472" cy="0"/>
          </a:xfrm>
          <a:prstGeom prst="line">
            <a:avLst/>
          </a:prstGeom>
          <a:noFill/>
          <a:ln w="20320">
            <a:solidFill>
              <a:srgbClr val="1B6B4A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6336792" y="1874520"/>
            <a:ext cx="2395728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64808" y="2039112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464808" y="2423160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Dane, pgvector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migracje EF Core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778240" y="2468880"/>
            <a:ext cx="347472" cy="0"/>
          </a:xfrm>
          <a:prstGeom prst="line">
            <a:avLst/>
          </a:prstGeom>
          <a:noFill/>
          <a:ln w="20320">
            <a:solidFill>
              <a:srgbClr val="1B6B4A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9189720" y="1874520"/>
            <a:ext cx="2395728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9317736" y="2039112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adapter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9317736" y="2423160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/ placeholder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ustrukturyzowany JSON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30936" y="3456432"/>
            <a:ext cx="3401568" cy="987552"/>
          </a:xfrm>
          <a:prstGeom prst="roundRect">
            <a:avLst>
              <a:gd name="adj" fmla="val 12963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832104" y="362102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Prywatność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32104" y="3941064"/>
            <a:ext cx="2999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Anonimizacja przed wysłaniem treści do LLM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398264" y="3456432"/>
            <a:ext cx="3401568" cy="987552"/>
          </a:xfrm>
          <a:prstGeom prst="roundRect">
            <a:avLst>
              <a:gd name="adj" fmla="val 12963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599432" y="362102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Bezpieczeństwo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599432" y="3941064"/>
            <a:ext cx="2999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Sesje cookie, role i sekrety poza repozytorium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165592" y="3456432"/>
            <a:ext cx="3401568" cy="987552"/>
          </a:xfrm>
          <a:prstGeom prst="roundRect">
            <a:avLst>
              <a:gd name="adj" fmla="val 12963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8366760" y="362102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Operacyjność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366760" y="3941064"/>
            <a:ext cx="2999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Compose, healthchecki, SSL i deployment SSH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005840" y="4892040"/>
            <a:ext cx="233172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1170432" y="5020056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6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115568" y="55138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ścieżek OpenAPI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602736" y="4892040"/>
            <a:ext cx="233172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767328" y="5020056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72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712464" y="55138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operacje API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199632" y="4892040"/>
            <a:ext cx="233172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364224" y="5020056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B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57/57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309360" y="55138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testów backendu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8796528" y="4892040"/>
            <a:ext cx="233172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8961120" y="5020056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5D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7/7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8906256" y="55138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modułów z ekranami</a:t>
            </a:r>
            <a:endParaRPr lang="en-US" sz="97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UTRZYMANIE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Niski koszt infrastruktury, przewidywalne zasoby zespołu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Szacunek dla pilota regionalnego; realny koszt zależy od ruchu, wolumenu AI i wymagań SLA.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57784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8D1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868680" y="2020824"/>
            <a:ext cx="2331720" cy="310896"/>
          </a:xfrm>
          <a:prstGeom prst="roundRect">
            <a:avLst>
              <a:gd name="adj" fmla="val 47059"/>
            </a:avLst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41832" y="2048256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INFRASTRUKTURA / MIESIĄC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250–950 PLN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6112" y="3035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kosztu pracy zespołu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5204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VPS + PostgreSQL + SSL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352044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150–350 PLN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3931920"/>
            <a:ext cx="4800600" cy="0"/>
          </a:xfrm>
          <a:prstGeom prst="line">
            <a:avLst/>
          </a:prstGeom>
          <a:noFill/>
          <a:ln w="889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896112" y="412394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Backup, domena, monitoring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4123944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50–150 PLN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535424"/>
            <a:ext cx="4800600" cy="0"/>
          </a:xfrm>
          <a:prstGeom prst="line">
            <a:avLst/>
          </a:prstGeom>
          <a:noFill/>
          <a:ln w="889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896112" y="47274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/ Azure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4727448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50–450 PLN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" y="5138928"/>
            <a:ext cx="4800600" cy="0"/>
          </a:xfrm>
          <a:prstGeom prst="line">
            <a:avLst/>
          </a:prstGeom>
          <a:noFill/>
          <a:ln w="8890">
            <a:solidFill>
              <a:srgbClr val="CBD8D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896112" y="553212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2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Architektura nie wymaga płatnego rejestru obrazów ani osobnego klastra.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5148072" cy="4480560"/>
          </a:xfrm>
          <a:prstGeom prst="roundRect">
            <a:avLst>
              <a:gd name="adj" fmla="val 3265"/>
            </a:avLst>
          </a:prstGeom>
          <a:solidFill>
            <a:srgbClr val="12352B"/>
          </a:solidFill>
          <a:ln w="12700">
            <a:solidFill>
              <a:srgbClr val="12352B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675120" y="2020824"/>
            <a:ext cx="1965960" cy="310896"/>
          </a:xfrm>
          <a:prstGeom prst="roundRect">
            <a:avLst>
              <a:gd name="adj" fmla="val 47059"/>
            </a:avLst>
          </a:prstGeom>
          <a:solidFill>
            <a:srgbClr val="A8D36D"/>
          </a:solidFill>
          <a:ln w="12700">
            <a:solidFill>
              <a:srgbClr val="A8D36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748272" y="2048256"/>
            <a:ext cx="1819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ZASOBY OPERACYJNE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75120" y="2679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Właściciel produktu ROPS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33688" y="267919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0,05–0,1 etatu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971800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C9D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priorytety, nabory, role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675120" y="33924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/ DevOps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33688" y="339242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0,1–0,2 etatu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68503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C9D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aktualizacje, incydenty, rozwój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675120" y="41056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Opiekun treści i danych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33688" y="410565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8–16 h / mies.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4398264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C9D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innowacje, raporty, jakość danych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675120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Eksperci obszarowi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33688" y="48188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 spraw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511149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C9D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ocena pomysłów i odpowiedzi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675120" y="5724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start pilota: jednorazowy audyt bezpieczeństwa i dostępności.</a:t>
            </a:r>
            <a:endParaRPr lang="en-US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6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wronski\git\hackathon-2026\docs\visuals\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16368" y="0"/>
            <a:ext cx="4672584" cy="6858000"/>
          </a:xfrm>
          <a:prstGeom prst="rect">
            <a:avLst/>
          </a:prstGeom>
          <a:solidFill>
            <a:srgbClr val="12352B">
              <a:alpha val="80000"/>
            </a:srgbClr>
          </a:solidFill>
          <a:ln w="12700">
            <a:solidFill>
              <a:srgbClr val="1235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621792" y="5303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A8D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SPRAWDŹ CASTOR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792" y="932688"/>
            <a:ext cx="6995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problemu do rozwiązania,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które już działa.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7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Demo, kod i makiety są dostępne online.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" y="2953512"/>
            <a:ext cx="2240280" cy="2304288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8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3136392"/>
            <a:ext cx="1124712" cy="11247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" y="4416552"/>
            <a:ext cx="1984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kern="0" spc="8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20" dirty="0"/>
          </a:p>
        </p:txBody>
      </p:sp>
      <p:sp>
        <p:nvSpPr>
          <p:cNvPr id="10" name="Text 6"/>
          <p:cNvSpPr/>
          <p:nvPr/>
        </p:nvSpPr>
        <p:spPr>
          <a:xfrm>
            <a:off x="795528" y="4709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u="sng" dirty="0">
                <a:solidFill>
                  <a:srgbClr val="12352B"/>
                </a:solidFill>
                <a:uFill>
                  <a:solidFill>
                    <a:srgbClr val="1B6B4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castor.redmed.dev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3154680" y="2953512"/>
            <a:ext cx="2240280" cy="2304288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3136392"/>
            <a:ext cx="1124712" cy="11247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82696" y="4416552"/>
            <a:ext cx="1984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kern="0" spc="8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REPOZYTORIUM</a:t>
            </a:r>
            <a:endParaRPr lang="en-US" sz="920" dirty="0"/>
          </a:p>
        </p:txBody>
      </p:sp>
      <p:sp>
        <p:nvSpPr>
          <p:cNvPr id="14" name="Text 9"/>
          <p:cNvSpPr/>
          <p:nvPr/>
        </p:nvSpPr>
        <p:spPr>
          <a:xfrm>
            <a:off x="3291840" y="4709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u="sng" dirty="0">
                <a:solidFill>
                  <a:srgbClr val="12352B"/>
                </a:solidFill>
                <a:uFill>
                  <a:solidFill>
                    <a:srgbClr val="1B6B4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github.com/Cheapsik/hackathon-2026</a:t>
            </a:r>
            <a:endParaRPr lang="en-US" sz="880" dirty="0"/>
          </a:p>
        </p:txBody>
      </p:sp>
      <p:sp>
        <p:nvSpPr>
          <p:cNvPr id="15" name="Shape 10"/>
          <p:cNvSpPr/>
          <p:nvPr/>
        </p:nvSpPr>
        <p:spPr>
          <a:xfrm>
            <a:off x="5650992" y="2953512"/>
            <a:ext cx="2240280" cy="2304288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50800" dir="2700000" algn="bl" rotWithShape="0">
              <a:srgbClr val="718079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6" name="Image 3" descr="preencoded.png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136392"/>
            <a:ext cx="1124712" cy="11247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79008" y="4416552"/>
            <a:ext cx="1984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kern="0" spc="80" dirty="0">
                <a:solidFill>
                  <a:srgbClr val="1B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MAKIETY UX/UI</a:t>
            </a:r>
            <a:endParaRPr lang="en-US" sz="920" dirty="0"/>
          </a:p>
        </p:txBody>
      </p:sp>
      <p:sp>
        <p:nvSpPr>
          <p:cNvPr id="18" name="Text 12"/>
          <p:cNvSpPr/>
          <p:nvPr/>
        </p:nvSpPr>
        <p:spPr>
          <a:xfrm>
            <a:off x="5788152" y="4709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u="sng" dirty="0">
                <a:solidFill>
                  <a:srgbClr val="12352B"/>
                </a:solidFill>
                <a:uFill>
                  <a:solidFill>
                    <a:srgbClr val="1B6B4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docs/visuals w repozytorium</a:t>
            </a:r>
            <a:endParaRPr lang="en-US" sz="880" dirty="0"/>
          </a:p>
        </p:txBody>
      </p:sp>
      <p:sp>
        <p:nvSpPr>
          <p:cNvPr id="19" name="Text 13"/>
          <p:cNvSpPr/>
          <p:nvPr/>
        </p:nvSpPr>
        <p:spPr>
          <a:xfrm>
            <a:off x="658368" y="57972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6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CASTOR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2670048" y="58887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C7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Cyfrowe serce Małopolskiego Hubu Innowacji Społecznych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850</Words>
  <Application>Microsoft Office PowerPoint</Application>
  <PresentationFormat>Panoramiczny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Castor / Małopolski Hub Innowacji Społecznych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Castor — od problemu do rozwiązania społecznego</dc:title>
  <dc:subject>Prezentacja rozwiązania konkursowego Castor</dc:subject>
  <dc:creator>Zespół Castor</dc:creator>
  <cp:lastModifiedBy>Mariusz Wroński</cp:lastModifiedBy>
  <cp:revision>6</cp:revision>
  <dcterms:created xsi:type="dcterms:W3CDTF">2026-10-04T07:20:48Z</dcterms:created>
  <dcterms:modified xsi:type="dcterms:W3CDTF">2026-10-04T08:46:21Z</dcterms:modified>
</cp:coreProperties>
</file>