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STOR_LIGHT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105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60" kern="0" dirty="0">
                <a:solidFill>
                  <a:srgbClr val="66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CASTOR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astor.redmed.dev" TargetMode="External"/><Relationship Id="rId4" Type="http://schemas.openxmlformats.org/officeDocument/2006/relationships/hyperlink" Target="https://castor.redmed.dev" TargetMode="External"/><Relationship Id="rId6" Type="http://schemas.openxmlformats.org/officeDocument/2006/relationships/hyperlink" Target="https://github.com/Cheapsik/hackathon-2026" TargetMode="External"/><Relationship Id="rId7" Type="http://schemas.openxmlformats.org/officeDocument/2006/relationships/hyperlink" Target="https://github.com/Cheapsik/hackathon-2026" TargetMode="External"/><Relationship Id="rId9" Type="http://schemas.openxmlformats.org/officeDocument/2006/relationships/hyperlink" Target="https://github.com/Cheapsik/hackathon-2026/tree/main/docs/visuals" TargetMode="External"/><Relationship Id="rId10" Type="http://schemas.openxmlformats.org/officeDocument/2006/relationships/hyperlink" Target="https://github.com/Cheapsik/hackathon-2026/tree/main/docs/visual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5" Type="http://schemas.openxmlformats.org/officeDocument/2006/relationships/image" Target="../media/image-10-3.png"/><Relationship Id="rId8" Type="http://schemas.openxmlformats.org/officeDocument/2006/relationships/image" Target="../media/image-10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wronski\git\hackathon-2026\docs\visuals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16">
              <a:alpha val="54000"/>
            </a:srgbClr>
          </a:solidFill>
          <a:ln w="12700">
            <a:solidFill>
              <a:srgbClr val="071B1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4187952"/>
            <a:ext cx="12191695" cy="2670048"/>
          </a:xfrm>
          <a:prstGeom prst="rect">
            <a:avLst/>
          </a:prstGeom>
          <a:solidFill>
            <a:srgbClr val="071B16">
              <a:alpha val="82000"/>
            </a:srgbClr>
          </a:solidFill>
          <a:ln w="12700">
            <a:solidFill>
              <a:srgbClr val="071B16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493776"/>
            <a:ext cx="3291840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21208"/>
            <a:ext cx="3145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MAŁOPOLSKI HUB INNOWACJI SPOŁECZNYCH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58368" y="4407408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Castor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76656" y="51480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 problemu do rozwiązania społecznego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694944" y="573328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9E8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platforma dla mieszkańców, gmin, organizacji i ROPS Kraków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6281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BFD2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Prezentacja rozwiązania · 4 października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Dobre rozwiązania istnieją. Trudno je połączyć z realną potrzebą.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Dziś mieszkaniec, gmina i ROPS widzą różne fragmenty tego samego problemu.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56232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2996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95681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Rozproszone wejście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304288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 wiadomo, gdzie zgłosić problem społeczny i kto poprowadzi sprawę dalej.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E7F0EA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6384" y="3328416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89888" y="32552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Niewykorzystana wiedza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89888" y="3602736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Blisko 200 innowacji ROPS trudno przeszukać językiem codziennego problemu.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594360" y="4453128"/>
            <a:ext cx="6080760" cy="1033272"/>
          </a:xfrm>
          <a:prstGeom prst="roundRect">
            <a:avLst>
              <a:gd name="adj" fmla="val 1415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46268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89888" y="45537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Brak pętli informacji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89888" y="4901184"/>
            <a:ext cx="49194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Pomysły, testy, dane gmin i sygnały mieszkańców nie spotykają się w jednym procesie.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7022592" y="1764792"/>
            <a:ext cx="4526280" cy="4279392"/>
          </a:xfrm>
          <a:prstGeom prst="roundRect">
            <a:avLst>
              <a:gd name="adj" fmla="val 341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18" name="Image 0" descr="C:\Users\mwronski\git\hackathon-2026\docs\visuals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0100" y="1901952"/>
            <a:ext cx="3111265" cy="38862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635240" y="5614416"/>
            <a:ext cx="3337560" cy="310896"/>
          </a:xfrm>
          <a:prstGeom prst="roundRect">
            <a:avLst>
              <a:gd name="adj" fmla="val 47059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08392" y="5641848"/>
            <a:ext cx="3191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JEDNA POTRZEBA · WIELE INSTYTUCJI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" y="329184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ROZWIĄZANIE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76072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Cyfrowe serce całego cyklu innowacji społecznej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71016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Castor zamienia pojedynczy sygnał w wiedzę, decyzję i wdrożenie.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34440" y="2011680"/>
            <a:ext cx="713232" cy="713232"/>
          </a:xfrm>
          <a:prstGeom prst="ellipse">
            <a:avLst/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984248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94360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Opisz problem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21792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Tekstem lub głosem, bez konta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11296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1296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261104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871216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Znajdź to, co działa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898648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 do Biblioteki ROPS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88152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88152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148072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Sprawdź gminę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175504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Wymagania kontra dane lokalne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65008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814816" y="2368296"/>
            <a:ext cx="850392" cy="0"/>
          </a:xfrm>
          <a:prstGeom prst="line">
            <a:avLst/>
          </a:prstGeom>
          <a:noFill/>
          <a:ln w="25400">
            <a:solidFill>
              <a:srgbClr val="78A491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424928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Rozwiń nowy pomysł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52360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Kreator, nabór, eksperci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341864" y="2011680"/>
            <a:ext cx="713232" cy="71323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41864" y="208483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01784" y="2907792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Przetestuj i skaluj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729216" y="3355848"/>
            <a:ext cx="1938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D8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Testerzy, feedback, partnerstwa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87552" y="4645152"/>
            <a:ext cx="10168128" cy="1051560"/>
          </a:xfrm>
          <a:prstGeom prst="roundRect">
            <a:avLst>
              <a:gd name="adj" fmla="val 15652"/>
            </a:avLst>
          </a:prstGeom>
          <a:solidFill>
            <a:srgbClr val="214A3E"/>
          </a:solidFill>
          <a:ln w="12700">
            <a:solidFill>
              <a:srgbClr val="3F72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8463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ROPS widzi cały region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67328" y="47914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Radar potrzeb pokazuje trendy i białe plamy — problemy, dla których nie ma jeszcze dobrego rozwiązania.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822192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D0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Każdy kolejny sygnał poprawia decyzje regionu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0" y="5596128"/>
            <a:ext cx="8458200" cy="438912"/>
          </a:xfrm>
          <a:prstGeom prst="line">
            <a:avLst/>
          </a:prstGeom>
          <a:noFill/>
          <a:ln w="21590">
            <a:solidFill>
              <a:srgbClr val="78A491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ŚCIEŻKA UŻYTKOWNIKA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Anna opisuje problem. Castor prowadzi ją do konkretnej odpowiedzi.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formularza, maksimum kontekstu i jasne wyjaśnienie dopasowania.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475488" cy="475488"/>
          </a:xfrm>
          <a:prstGeom prst="ellipse">
            <a:avLst/>
          </a:prstGeom>
          <a:solidFill>
            <a:srgbClr val="1B6B4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019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96112" y="23500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16736" y="18379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Powiedz, co nie działa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21488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Tekst lub mikrofon, bez zakładania konta.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58368" y="27614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163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6112" y="32644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6736" y="27523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Odpowiedz na 2–3 pytania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16736" y="30632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dopytuje tylko o informacje potrzebne do dopasowania.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58368" y="36758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7307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6112" y="4178808"/>
            <a:ext cx="0" cy="411480"/>
          </a:xfrm>
          <a:prstGeom prst="line">
            <a:avLst/>
          </a:prstGeom>
          <a:noFill/>
          <a:ln w="19050">
            <a:solidFill>
              <a:srgbClr val="CBD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16736" y="36667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Zobacz sprawdzone rozwiązania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16736" y="39776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kart z uzasadnieniem „dlaczego pasuje” i potrzebnymi zmianami.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658368" y="4590288"/>
            <a:ext cx="475488" cy="475488"/>
          </a:xfrm>
          <a:prstGeom prst="ellipse">
            <a:avLst/>
          </a:prstGeom>
          <a:solidFill>
            <a:srgbClr val="E7F0EA"/>
          </a:solidFill>
          <a:ln w="15240">
            <a:solidFill>
              <a:srgbClr val="1B6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64515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16736" y="458114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Śledź sprawę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6736" y="489204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Kod śledzenia działa jak numer przesyłki — pokazuje status i rozmowę.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669280" y="1737360"/>
            <a:ext cx="5806440" cy="4544568"/>
          </a:xfrm>
          <a:prstGeom prst="roundRect">
            <a:avLst>
              <a:gd name="adj" fmla="val 3219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25" name="Image 0" descr="C:\Users\mwronski\git\hackathon-2026\docs\visuals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286595"/>
            <a:ext cx="2670048" cy="3336370"/>
          </a:xfrm>
          <a:prstGeom prst="rect">
            <a:avLst/>
          </a:prstGeom>
        </p:spPr>
      </p:pic>
      <p:pic>
        <p:nvPicPr>
          <p:cNvPr id="26" name="Image 1" descr="C:\Users\mwronski\git\hackathon-2026\docs\visuals\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216" y="1952244"/>
            <a:ext cx="2670048" cy="4005072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007608" y="5852160"/>
            <a:ext cx="1353312" cy="310896"/>
          </a:xfrm>
          <a:prstGeom prst="roundRect">
            <a:avLst>
              <a:gd name="adj" fmla="val 47059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080760" y="5879592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FIRST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7507224" y="5852160"/>
            <a:ext cx="1426464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580376" y="587959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GŁOS + TEKST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089136" y="5852160"/>
            <a:ext cx="1243584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62288" y="5879592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KONTA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WARTOŚĆ PUBLICZNA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 sama potrzeba — dwie decyzje oparte na danych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Gmina sprawdza wykonalność. ROPS widzi skalę i luki w całym województwie.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5440680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11680"/>
            <a:ext cx="1024128" cy="310896"/>
          </a:xfrm>
          <a:prstGeom prst="roundRect">
            <a:avLst>
              <a:gd name="adj" fmla="val 47059"/>
            </a:avLst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39112"/>
            <a:ext cx="877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GMINA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441448"/>
            <a:ext cx="4526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Czy ta innowacja zadziała u nas?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2990088"/>
            <a:ext cx="4736592" cy="438912"/>
          </a:xfrm>
          <a:prstGeom prst="rect">
            <a:avLst/>
          </a:prstGeom>
          <a:solidFill>
            <a:srgbClr val="12352B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3580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Wymaganie innowacji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3493008" y="303580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 gminy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868680" y="3493008"/>
            <a:ext cx="4736592" cy="438912"/>
          </a:xfrm>
          <a:prstGeom prst="rect">
            <a:avLst/>
          </a:prstGeom>
          <a:solidFill>
            <a:srgbClr val="EEF3E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53872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Dostępność transportu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3493008" y="353872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poniżej średniej regionu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68680" y="3995928"/>
            <a:ext cx="4736592" cy="438912"/>
          </a:xfrm>
          <a:prstGeom prst="rect">
            <a:avLst/>
          </a:prstGeom>
          <a:solidFill>
            <a:srgbClr val="FFFFF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4164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Liczba seniorów 75+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3493008" y="404164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wysoka potrzeba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68680" y="4498848"/>
            <a:ext cx="4736592" cy="438912"/>
          </a:xfrm>
          <a:prstGeom prst="rect">
            <a:avLst/>
          </a:prstGeom>
          <a:solidFill>
            <a:srgbClr val="EEF3EF"/>
          </a:solidFill>
          <a:ln w="7620">
            <a:solidFill>
              <a:srgbClr val="CBD8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5445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Lokalny operator usługi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3493008" y="4544568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wskazania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68680" y="5285232"/>
            <a:ext cx="2029968" cy="310896"/>
          </a:xfrm>
          <a:prstGeom prst="roundRect">
            <a:avLst>
              <a:gd name="adj" fmla="val 47059"/>
            </a:avLst>
          </a:prstGeom>
          <a:solidFill>
            <a:srgbClr val="E7F0EA"/>
          </a:solidFill>
          <a:ln w="12700">
            <a:solidFill>
              <a:srgbClr val="E7F0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5312664"/>
            <a:ext cx="18836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DOPASOWANIE: WYSOKIE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68680" y="5650992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9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„Co dostosować?” i „kto może prowadzić usługę?” — do dopytania asystenta.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6236208" y="1783080"/>
            <a:ext cx="5330952" cy="4343400"/>
          </a:xfrm>
          <a:prstGeom prst="roundRect">
            <a:avLst>
              <a:gd name="adj" fmla="val 3368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10528" y="2011680"/>
            <a:ext cx="1417320" cy="310896"/>
          </a:xfrm>
          <a:prstGeom prst="roundRect">
            <a:avLst>
              <a:gd name="adj" fmla="val 47059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2039112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ROPS KRAKÓW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10528" y="2441448"/>
            <a:ext cx="4434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Gdzie problemów przybywa?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10528" y="3063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Samotność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8101584" y="3099816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01584" y="3099816"/>
            <a:ext cx="2150669" cy="164592"/>
          </a:xfrm>
          <a:prstGeom prst="roundRect">
            <a:avLst>
              <a:gd name="adj" fmla="val 50000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0528" y="363016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Transport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8101584" y="3666744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01584" y="3666744"/>
            <a:ext cx="1715414" cy="164592"/>
          </a:xfrm>
          <a:prstGeom prst="roundRect">
            <a:avLst>
              <a:gd name="adj" fmla="val 50000"/>
            </a:avLst>
          </a:prstGeom>
          <a:solidFill>
            <a:srgbClr val="6CAE8A"/>
          </a:solidFill>
          <a:ln w="12700">
            <a:solidFill>
              <a:srgbClr val="6CAE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4197096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Zdrowie psychiczne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8101584" y="4233672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01584" y="4233672"/>
            <a:ext cx="1356970" cy="164592"/>
          </a:xfrm>
          <a:prstGeom prst="roundRect">
            <a:avLst>
              <a:gd name="adj" fmla="val 50000"/>
            </a:avLst>
          </a:prstGeom>
          <a:solidFill>
            <a:srgbClr val="5794A8"/>
          </a:solidFill>
          <a:ln w="12700">
            <a:solidFill>
              <a:srgbClr val="5794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10528" y="4764024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dirty="0">
                <a:solidFill>
                  <a:srgbClr val="D9E7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Dostępność usług</a:t>
            </a:r>
            <a:endParaRPr lang="en-US" sz="1020" dirty="0"/>
          </a:p>
        </p:txBody>
      </p:sp>
      <p:sp>
        <p:nvSpPr>
          <p:cNvPr id="38" name="Shape 36"/>
          <p:cNvSpPr/>
          <p:nvPr/>
        </p:nvSpPr>
        <p:spPr>
          <a:xfrm>
            <a:off x="8101584" y="4800600"/>
            <a:ext cx="2560320" cy="164592"/>
          </a:xfrm>
          <a:prstGeom prst="roundRect">
            <a:avLst>
              <a:gd name="adj" fmla="val 50000"/>
            </a:avLst>
          </a:prstGeom>
          <a:solidFill>
            <a:srgbClr val="355B4F"/>
          </a:solidFill>
          <a:ln w="12700">
            <a:solidFill>
              <a:srgbClr val="355B4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01584" y="48006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D98B32"/>
          </a:solidFill>
          <a:ln w="12700">
            <a:solidFill>
              <a:srgbClr val="D98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10528" y="5404104"/>
            <a:ext cx="1298448" cy="310896"/>
          </a:xfrm>
          <a:prstGeom prst="roundRect">
            <a:avLst>
              <a:gd name="adj" fmla="val 47059"/>
            </a:avLst>
          </a:prstGeom>
          <a:solidFill>
            <a:srgbClr val="FFF0D9"/>
          </a:solidFill>
          <a:ln w="12700">
            <a:solidFill>
              <a:srgbClr val="FFF0D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0" y="5431536"/>
            <a:ext cx="1152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C56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BIAŁA PLAMA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964424" y="5330952"/>
            <a:ext cx="29718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bez dobrego dopasowania może od razu stać się szkicem nowego naboru.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ZAKRES ROZWIĄZANIA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Siedem modułów, jeden spójny proces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Każdy moduł odpowiada na inny etap drogi od potrzeby do wdrożenia.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1938528"/>
            <a:ext cx="438912" cy="438912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0759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Opisz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0759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Dopasowanie potrzeb do sprawdzonych innowacji.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338328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7872" y="1938528"/>
            <a:ext cx="438912" cy="438912"/>
          </a:xfrm>
          <a:prstGeom prst="ellipse">
            <a:avLst/>
          </a:prstGeom>
          <a:solidFill>
            <a:srgbClr val="3B728A"/>
          </a:solidFill>
          <a:ln w="12700">
            <a:solidFill>
              <a:srgbClr val="3B72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9651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Atlas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9651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Obszary wyzwań, biblioteka i dane gmin.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17220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36792" y="1938528"/>
            <a:ext cx="438912" cy="438912"/>
          </a:xfrm>
          <a:prstGeom prst="ellipse">
            <a:avLst/>
          </a:prstGeom>
          <a:solidFill>
            <a:srgbClr val="D98B32"/>
          </a:solidFill>
          <a:ln w="12700">
            <a:solidFill>
              <a:srgbClr val="D98B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679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III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8543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Szkółka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8543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Kreator pomysłów i generator wniosków.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8961120" y="1755648"/>
            <a:ext cx="26517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25712" y="1938528"/>
            <a:ext cx="438912" cy="438912"/>
          </a:xfrm>
          <a:prstGeom prst="ellipse">
            <a:avLst/>
          </a:prstGeom>
          <a:solidFill>
            <a:srgbClr val="C95D4B"/>
          </a:solidFill>
          <a:ln w="12700">
            <a:solidFill>
              <a:srgbClr val="C95D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25712" y="1947672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IV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74352" y="1911096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Poletko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74352" y="2276856"/>
            <a:ext cx="17739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Testerzy, opinie i usprawnienia.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1527048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691640" y="3621024"/>
            <a:ext cx="438912" cy="438912"/>
          </a:xfrm>
          <a:prstGeom prst="ellipse">
            <a:avLst/>
          </a:prstGeom>
          <a:solidFill>
            <a:srgbClr val="4C816C"/>
          </a:solidFill>
          <a:ln w="12700">
            <a:solidFill>
              <a:srgbClr val="4C816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91640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40280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Śledź zgłoszenie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240280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jak przesyłka i bezpośrednie wątki.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4626864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91456" y="3621024"/>
            <a:ext cx="438912" cy="438912"/>
          </a:xfrm>
          <a:prstGeom prst="ellipse">
            <a:avLst/>
          </a:prstGeom>
          <a:solidFill>
            <a:srgbClr val="476C7B"/>
          </a:solidFill>
          <a:ln w="12700">
            <a:solidFill>
              <a:srgbClr val="476C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91456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40096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Ogrodnik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40096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Skrzynka ROPS, radar potrzeb i nabory.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7726680" y="3438144"/>
            <a:ext cx="292608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891272" y="3621024"/>
            <a:ext cx="438912" cy="438912"/>
          </a:xfrm>
          <a:prstGeom prst="ellipse">
            <a:avLst/>
          </a:prstGeom>
          <a:solidFill>
            <a:srgbClr val="8E7045"/>
          </a:solidFill>
          <a:ln w="12700">
            <a:solidFill>
              <a:srgbClr val="8E704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91272" y="3630168"/>
            <a:ext cx="4389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39912" y="3593592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Karta gminy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39912" y="3959352"/>
            <a:ext cx="20482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Ocena dopasowania rozwiązania do lokalnych danych.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2130552" y="5239512"/>
            <a:ext cx="7927848" cy="658368"/>
          </a:xfrm>
          <a:prstGeom prst="roundRect">
            <a:avLst>
              <a:gd name="adj" fmla="val 27778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313432" y="5385816"/>
            <a:ext cx="7562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Wspólna warstwa AI: anonimizacja · klasyfikacja · dopasowanie · uzasadnienie · asystenci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UX / UI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Dostępny produkt publiczny, nie kolejny urzędowy formularz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Prosty język, duże działania i spójne doświadczenie od telefonu po desktop.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55648"/>
            <a:ext cx="685800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6" name="Image 0" descr="C:\Users\mwronski\git\hackathon-2026\docs\visuals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567635"/>
            <a:ext cx="3703320" cy="2765146"/>
          </a:xfrm>
          <a:prstGeom prst="rect">
            <a:avLst/>
          </a:prstGeom>
        </p:spPr>
      </p:pic>
      <p:pic>
        <p:nvPicPr>
          <p:cNvPr id="7" name="Image 1" descr="C:\Users\mwronski\git\hackathon-2026\docs\visuals\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83820"/>
            <a:ext cx="2697480" cy="33693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90688" y="1929384"/>
            <a:ext cx="310896" cy="310896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90688" y="1920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47888" y="1856232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first</a:t>
            </a:r>
            <a:endParaRPr lang="en-US" sz="1320" dirty="0"/>
          </a:p>
        </p:txBody>
      </p:sp>
      <p:sp>
        <p:nvSpPr>
          <p:cNvPr id="11" name="Text 7"/>
          <p:cNvSpPr/>
          <p:nvPr/>
        </p:nvSpPr>
        <p:spPr>
          <a:xfrm>
            <a:off x="8247888" y="215798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Projekt od 360 px, kluczowa akcja w pierwszym widoku.</a:t>
            </a:r>
            <a:endParaRPr lang="en-US" sz="970" dirty="0"/>
          </a:p>
        </p:txBody>
      </p:sp>
      <p:sp>
        <p:nvSpPr>
          <p:cNvPr id="12" name="Shape 8"/>
          <p:cNvSpPr/>
          <p:nvPr/>
        </p:nvSpPr>
        <p:spPr>
          <a:xfrm>
            <a:off x="7790688" y="2761488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90688" y="275234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47888" y="268833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WCAG 2.1 AA</a:t>
            </a:r>
            <a:endParaRPr lang="en-US" sz="1320" dirty="0"/>
          </a:p>
        </p:txBody>
      </p:sp>
      <p:sp>
        <p:nvSpPr>
          <p:cNvPr id="15" name="Text 11"/>
          <p:cNvSpPr/>
          <p:nvPr/>
        </p:nvSpPr>
        <p:spPr>
          <a:xfrm>
            <a:off x="8247888" y="29900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Klawiatura, semantyka, kontrast i komunikaty aria-live.</a:t>
            </a:r>
            <a:endParaRPr lang="en-US" sz="970" dirty="0"/>
          </a:p>
        </p:txBody>
      </p:sp>
      <p:sp>
        <p:nvSpPr>
          <p:cNvPr id="16" name="Shape 12"/>
          <p:cNvSpPr/>
          <p:nvPr/>
        </p:nvSpPr>
        <p:spPr>
          <a:xfrm>
            <a:off x="7790688" y="3593592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90688" y="358444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47888" y="352044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A+ / A++</a:t>
            </a:r>
            <a:endParaRPr lang="en-US" sz="1320" dirty="0"/>
          </a:p>
        </p:txBody>
      </p:sp>
      <p:sp>
        <p:nvSpPr>
          <p:cNvPr id="19" name="Text 15"/>
          <p:cNvSpPr/>
          <p:nvPr/>
        </p:nvSpPr>
        <p:spPr>
          <a:xfrm>
            <a:off x="8247888" y="382219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Powiększenie tekstu i tryb wysokiego kontrastu.</a:t>
            </a:r>
            <a:endParaRPr lang="en-US" sz="970" dirty="0"/>
          </a:p>
        </p:txBody>
      </p:sp>
      <p:sp>
        <p:nvSpPr>
          <p:cNvPr id="20" name="Shape 16"/>
          <p:cNvSpPr/>
          <p:nvPr/>
        </p:nvSpPr>
        <p:spPr>
          <a:xfrm>
            <a:off x="7790688" y="4425696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90688" y="441655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8247888" y="4352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Głos i tekst</a:t>
            </a:r>
            <a:endParaRPr lang="en-US" sz="1320" dirty="0"/>
          </a:p>
        </p:txBody>
      </p:sp>
      <p:sp>
        <p:nvSpPr>
          <p:cNvPr id="23" name="Text 19"/>
          <p:cNvSpPr/>
          <p:nvPr/>
        </p:nvSpPr>
        <p:spPr>
          <a:xfrm>
            <a:off x="8247888" y="465429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Mikrofon zawsze ma pełną alternatywę tekstową.</a:t>
            </a:r>
            <a:endParaRPr lang="en-US" sz="970" dirty="0"/>
          </a:p>
        </p:txBody>
      </p:sp>
      <p:sp>
        <p:nvSpPr>
          <p:cNvPr id="24" name="Shape 20"/>
          <p:cNvSpPr/>
          <p:nvPr/>
        </p:nvSpPr>
        <p:spPr>
          <a:xfrm>
            <a:off x="7790688" y="5257800"/>
            <a:ext cx="310896" cy="310896"/>
          </a:xfrm>
          <a:prstGeom prst="ellipse">
            <a:avLst/>
          </a:prstGeom>
          <a:solidFill>
            <a:srgbClr val="E7F0E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90688" y="524865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247888" y="518464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Język człowieka</a:t>
            </a:r>
            <a:endParaRPr lang="en-US" sz="1320" dirty="0"/>
          </a:p>
        </p:txBody>
      </p:sp>
      <p:sp>
        <p:nvSpPr>
          <p:cNvPr id="27" name="Text 23"/>
          <p:cNvSpPr/>
          <p:nvPr/>
        </p:nvSpPr>
        <p:spPr>
          <a:xfrm>
            <a:off x="8247888" y="54864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„Znajdź rozwiązania”, nie „wyślij rekord”.</a:t>
            </a:r>
            <a:endParaRPr lang="en-US" sz="9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TECHNOLOGIA I ZAUFANIE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Architektura gotowa do demonstracji i dalszego rozwoju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Jawne kontrakty, wymienny dostawca AI i wdrożenie bez zależności od Docker Hub.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Responsywny frontend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TanStack Query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3072384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83864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E7F0EA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11880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.NET 10 API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611880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Reguły domenowe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+ SignalR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5925312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36792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4808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6464808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Dane, pgvector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migracje EF Core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8778240" y="2468880"/>
            <a:ext cx="347472" cy="0"/>
          </a:xfrm>
          <a:prstGeom prst="line">
            <a:avLst/>
          </a:prstGeom>
          <a:noFill/>
          <a:ln w="20320">
            <a:solidFill>
              <a:srgbClr val="1B6B4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89720" y="1874520"/>
            <a:ext cx="2395728" cy="1207008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17736" y="203911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adapter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9317736" y="2423160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 / placeholder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ustrukturyzowany JSON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30936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Prywatność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832104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Anonimizacja przed wysłaniem treści do LLM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398264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99432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Bezpieczeństwo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4599432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Sesje cookie, role i sekrety poza repozytorium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165592" y="3456432"/>
            <a:ext cx="3401568" cy="987552"/>
          </a:xfrm>
          <a:prstGeom prst="roundRect">
            <a:avLst>
              <a:gd name="adj" fmla="val 12963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366760" y="362102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Operacyjność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8366760" y="3941064"/>
            <a:ext cx="29992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Docker Compose, healthchecki, SSL i deployment SSH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1005840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170432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6B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78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115568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ścieżek OpenAPI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3602736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67328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28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93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712464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operacje API</a:t>
            </a:r>
            <a:endParaRPr lang="en-US" sz="970" dirty="0"/>
          </a:p>
        </p:txBody>
      </p:sp>
      <p:sp>
        <p:nvSpPr>
          <p:cNvPr id="35" name="Shape 33"/>
          <p:cNvSpPr/>
          <p:nvPr/>
        </p:nvSpPr>
        <p:spPr>
          <a:xfrm>
            <a:off x="6199632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64224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8B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57/57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309360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testów backendu</a:t>
            </a:r>
            <a:endParaRPr lang="en-US" sz="970" dirty="0"/>
          </a:p>
        </p:txBody>
      </p:sp>
      <p:sp>
        <p:nvSpPr>
          <p:cNvPr id="38" name="Shape 36"/>
          <p:cNvSpPr/>
          <p:nvPr/>
        </p:nvSpPr>
        <p:spPr>
          <a:xfrm>
            <a:off x="8796528" y="4892040"/>
            <a:ext cx="233172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61120" y="5020056"/>
            <a:ext cx="2002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D4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7/7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8906256" y="551383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modułów z ekranami</a:t>
            </a:r>
            <a:endParaRPr lang="en-US" sz="9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4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UTRZYMANIE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Niski koszt infrastruktury, przewidywalne zasoby zespołu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85216" y="122529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Szacunek dla pilota regionalnego; realny koszt zależy od ruchu, wolumenu AI i wymagań SLA.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5577840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BD8D1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0824"/>
            <a:ext cx="2331720" cy="310896"/>
          </a:xfrm>
          <a:prstGeom prst="roundRect">
            <a:avLst>
              <a:gd name="adj" fmla="val 47059"/>
            </a:avLst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185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INFRASTRUKTURA / MIESIĄC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250–950 PLN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6112" y="30358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 kosztu pracy zespołu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352044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VPS + PostgreSQL + SSL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3520440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150–350 PLN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6112" y="3931920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12394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Backup, domena, monitoring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0" y="4123944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50–150 PLN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" y="4535424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72744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4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 / Azure 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89120" y="472744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50–450 PLN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6112" y="5138928"/>
            <a:ext cx="4800600" cy="0"/>
          </a:xfrm>
          <a:prstGeom prst="line">
            <a:avLst/>
          </a:prstGeom>
          <a:noFill/>
          <a:ln w="8890">
            <a:solidFill>
              <a:srgbClr val="CBD8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532120"/>
            <a:ext cx="4736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273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Architektura nie wymaga płatnego rejestru obrazów ani osobnego klastra.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0" y="1783080"/>
            <a:ext cx="5148072" cy="4480560"/>
          </a:xfrm>
          <a:prstGeom prst="roundRect">
            <a:avLst>
              <a:gd name="adj" fmla="val 3265"/>
            </a:avLst>
          </a:prstGeom>
          <a:solidFill>
            <a:srgbClr val="12352B"/>
          </a:solidFill>
          <a:ln w="12700">
            <a:solidFill>
              <a:srgbClr val="12352B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2020824"/>
            <a:ext cx="1965960" cy="310896"/>
          </a:xfrm>
          <a:prstGeom prst="roundRect">
            <a:avLst>
              <a:gd name="adj" fmla="val 47059"/>
            </a:avLst>
          </a:prstGeom>
          <a:solidFill>
            <a:srgbClr val="A8D36D"/>
          </a:solidFill>
          <a:ln w="12700">
            <a:solidFill>
              <a:srgbClr val="A8D36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048256"/>
            <a:ext cx="1819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5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ZASOBY OPERACYJNE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0" y="26791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Właściciel produktu ROPS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33688" y="267919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0,05–0,1 etatu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971800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priorytety, nabory, role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6675120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Full-stack / DevOps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33688" y="3392424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0,1–0,2 etatu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368503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aktualizacje, incydenty, rozwój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6675120" y="410565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Opiekun treści i danych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933688" y="4105656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8–16 h / mies.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4398264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innowacje, raporty, jakość danych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6675120" y="4818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Eksperci obszarowi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33688" y="481888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wg spraw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11496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C9D9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ocena pomysłów i odpowiedzi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675120" y="5724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 start pilota: jednorazowy audyt bezpieczeństwa i dostępności.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029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66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wronski\git\hackathon-2026\docs\visuals\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16368" y="0"/>
            <a:ext cx="4672584" cy="6858000"/>
          </a:xfrm>
          <a:prstGeom prst="rect">
            <a:avLst/>
          </a:prstGeom>
          <a:solidFill>
            <a:srgbClr val="12352B">
              <a:alpha val="80000"/>
            </a:srgbClr>
          </a:solidFill>
          <a:ln w="12700">
            <a:solidFill>
              <a:srgbClr val="12352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21792" y="53035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A8D3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SPRAWDŹ CASTOR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21792" y="932688"/>
            <a:ext cx="6995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Od problemu do rozwiązania,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które już działa.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58368" y="22860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7D9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Demo, kod i makiety są dostępne online.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8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3136392"/>
            <a:ext cx="1124712" cy="1124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86384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</a:t>
            </a:r>
            <a:endParaRPr lang="en-US" sz="920" dirty="0"/>
          </a:p>
        </p:txBody>
      </p:sp>
      <p:sp>
        <p:nvSpPr>
          <p:cNvPr id="10" name="Text 6"/>
          <p:cNvSpPr/>
          <p:nvPr/>
        </p:nvSpPr>
        <p:spPr>
          <a:xfrm>
            <a:off x="795528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castor.redmed.dev</a:t>
            </a:r>
            <a:endParaRPr lang="en-US" sz="880" dirty="0"/>
          </a:p>
        </p:txBody>
      </p:sp>
      <p:sp>
        <p:nvSpPr>
          <p:cNvPr id="11" name="Shape 7"/>
          <p:cNvSpPr/>
          <p:nvPr/>
        </p:nvSpPr>
        <p:spPr>
          <a:xfrm>
            <a:off x="3154680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12" name="Image 2" descr="preencoded.png">
            <a:hlinkClick r:id="rId6" tooltip="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2464" y="3136392"/>
            <a:ext cx="1124712" cy="11247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282696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REPOZYTORIUM</a:t>
            </a:r>
            <a:endParaRPr lang="en-US" sz="920" dirty="0"/>
          </a:p>
        </p:txBody>
      </p:sp>
      <p:sp>
        <p:nvSpPr>
          <p:cNvPr id="14" name="Text 9"/>
          <p:cNvSpPr/>
          <p:nvPr/>
        </p:nvSpPr>
        <p:spPr>
          <a:xfrm>
            <a:off x="3291840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github.com/Cheapsik/hackathon-2026</a:t>
            </a:r>
            <a:endParaRPr lang="en-US" sz="880" dirty="0"/>
          </a:p>
        </p:txBody>
      </p:sp>
      <p:sp>
        <p:nvSpPr>
          <p:cNvPr id="15" name="Shape 10"/>
          <p:cNvSpPr/>
          <p:nvPr/>
        </p:nvSpPr>
        <p:spPr>
          <a:xfrm>
            <a:off x="5650992" y="2953512"/>
            <a:ext cx="2240280" cy="2304288"/>
          </a:xfrm>
          <a:prstGeom prst="roundRect">
            <a:avLst>
              <a:gd name="adj" fmla="val 65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" dist="50800" dir="2700000">
              <a:srgbClr val="718079">
                <a:alpha val="10000"/>
              </a:srgbClr>
            </a:outerShdw>
          </a:effectLst>
        </p:spPr>
      </p:sp>
      <p:pic>
        <p:nvPicPr>
          <p:cNvPr id="16" name="Image 3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8776" y="3136392"/>
            <a:ext cx="1124712" cy="112471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779008" y="4416552"/>
            <a:ext cx="1984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1B6B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MAKIETY UX/UI</a:t>
            </a:r>
            <a:endParaRPr lang="en-US" sz="920" dirty="0"/>
          </a:p>
        </p:txBody>
      </p:sp>
      <p:sp>
        <p:nvSpPr>
          <p:cNvPr id="18" name="Text 12"/>
          <p:cNvSpPr/>
          <p:nvPr/>
        </p:nvSpPr>
        <p:spPr>
          <a:xfrm>
            <a:off x="5788152" y="47091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u="sng" dirty="0">
                <a:solidFill>
                  <a:srgbClr val="12352B"/>
                </a:solidFill>
                <a:uFill>
                  <a:solidFill>
                    <a:srgbClr val="1B6B4A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docs/visuals w repozytorium</a:t>
            </a:r>
            <a:endParaRPr lang="en-US" sz="880" dirty="0"/>
          </a:p>
        </p:txBody>
      </p:sp>
      <p:sp>
        <p:nvSpPr>
          <p:cNvPr id="19" name="Text 13"/>
          <p:cNvSpPr/>
          <p:nvPr/>
        </p:nvSpPr>
        <p:spPr>
          <a:xfrm>
            <a:off x="658368" y="5797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160" kern="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CASTOR</a:t>
            </a:r>
            <a:endParaRPr lang="en-US" sz="2400" dirty="0"/>
          </a:p>
        </p:txBody>
      </p:sp>
      <p:sp>
        <p:nvSpPr>
          <p:cNvPr id="20" name="Text 14"/>
          <p:cNvSpPr/>
          <p:nvPr/>
        </p:nvSpPr>
        <p:spPr>
          <a:xfrm>
            <a:off x="2670048" y="58887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dirty="0">
                <a:solidFill>
                  <a:srgbClr val="C7D9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Cyfrowe serce Małopolskiego Hubu Innowacji Społecznych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Castor / Małopolski Hub Innowacji Społecznych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Castor — od problemu do rozwiązania społecznego</dc:title>
  <dc:subject>Prezentacja rozwiązania konkursowego Castor</dc:subject>
  <dc:creator>Zespół Castor</dc:creator>
  <cp:lastModifiedBy>Zespół Castor</cp:lastModifiedBy>
  <cp:revision>1</cp:revision>
  <dcterms:created xsi:type="dcterms:W3CDTF">2026-10-04T07:20:48Z</dcterms:created>
  <dcterms:modified xsi:type="dcterms:W3CDTF">2026-10-04T07:20:48Z</dcterms:modified>
</cp:coreProperties>
</file>